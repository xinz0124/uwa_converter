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52a64e2b414dff" /><Relationship Type="http://schemas.openxmlformats.org/officeDocument/2006/relationships/extended-properties" Target="/docProps/app.xml" Id="R180c9d7732c8424a" /><Relationship Type="http://schemas.openxmlformats.org/officeDocument/2006/relationships/officeDocument" Target="/ppt/presentation.xml" Id="R9028891d10a74d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778b1f2d384d93"/>
  </p:sldMasterIdLst>
  <p:notesMasterIdLst>
    <p:notesMasterId xmlns:r="http://schemas.openxmlformats.org/officeDocument/2006/relationships" r:id="R653f98ed3d2e4588"/>
  </p:notesMasterIdLst>
  <p:sldIdLst>
    <p:sldId xmlns:r="http://schemas.openxmlformats.org/officeDocument/2006/relationships" id="256" r:id="R1304402ba60b40c9"/>
    <p:sldId xmlns:r="http://schemas.openxmlformats.org/officeDocument/2006/relationships" id="257" r:id="Rabc0a15c4c4d44b3"/>
    <p:sldId xmlns:r="http://schemas.openxmlformats.org/officeDocument/2006/relationships" id="258" r:id="R88579a99bf9c4267"/>
    <p:sldId xmlns:r="http://schemas.openxmlformats.org/officeDocument/2006/relationships" id="259" r:id="R5890c32a9c8b4479"/>
    <p:sldId xmlns:r="http://schemas.openxmlformats.org/officeDocument/2006/relationships" id="260" r:id="Raf1a180aae574a22"/>
    <p:sldId xmlns:r="http://schemas.openxmlformats.org/officeDocument/2006/relationships" id="261" r:id="R9a6a775995d74fa4"/>
    <p:sldId xmlns:r="http://schemas.openxmlformats.org/officeDocument/2006/relationships" id="262" r:id="R30cf230329ac4e33"/>
    <p:sldId xmlns:r="http://schemas.openxmlformats.org/officeDocument/2006/relationships" id="263" r:id="R68929e3918d444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63c5b430d64803" /><Relationship Type="http://schemas.openxmlformats.org/officeDocument/2006/relationships/slideMaster" Target="/ppt/slideMasters/slideMaster1.xml" Id="R23778b1f2d384d93" /><Relationship Type="http://schemas.openxmlformats.org/officeDocument/2006/relationships/notesMaster" Target="/ppt/notesMasters/notesMaster1.xml" Id="R653f98ed3d2e4588" /><Relationship Type="http://schemas.openxmlformats.org/officeDocument/2006/relationships/presProps" Target="/ppt/presProps.xml" Id="Rc01344aa121c42ff" /><Relationship Type="http://schemas.openxmlformats.org/officeDocument/2006/relationships/tableStyles" Target="/ppt/tableStyles.xml" Id="R37ced0babeda4e4e" /><Relationship Type="http://schemas.openxmlformats.org/officeDocument/2006/relationships/slide" Target="/ppt/slides/slide1.xml" Id="R1304402ba60b40c9" /><Relationship Type="http://schemas.openxmlformats.org/officeDocument/2006/relationships/slide" Target="/ppt/slides/slide2.xml" Id="Rabc0a15c4c4d44b3" /><Relationship Type="http://schemas.openxmlformats.org/officeDocument/2006/relationships/slide" Target="/ppt/slides/slide3.xml" Id="R88579a99bf9c4267" /><Relationship Type="http://schemas.openxmlformats.org/officeDocument/2006/relationships/slide" Target="/ppt/slides/slide4.xml" Id="R5890c32a9c8b4479" /><Relationship Type="http://schemas.openxmlformats.org/officeDocument/2006/relationships/slide" Target="/ppt/slides/slide5.xml" Id="Raf1a180aae574a22" /><Relationship Type="http://schemas.openxmlformats.org/officeDocument/2006/relationships/slide" Target="/ppt/slides/slide6.xml" Id="R9a6a775995d74fa4" /><Relationship Type="http://schemas.openxmlformats.org/officeDocument/2006/relationships/slide" Target="/ppt/slides/slide7.xml" Id="R30cf230329ac4e33" /><Relationship Type="http://schemas.openxmlformats.org/officeDocument/2006/relationships/slide" Target="/ppt/slides/slide8.xml" Id="R68929e3918d444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a500a24680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022b1e3d1c4612" /><Relationship Type="http://schemas.openxmlformats.org/officeDocument/2006/relationships/notesMaster" Target="/ppt/notesMasters/notesMaster1.xml" Id="Rebafd94312cd47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ecc5836c6c4f60" /><Relationship Type="http://schemas.openxmlformats.org/officeDocument/2006/relationships/notesMaster" Target="/ppt/notesMasters/notesMaster1.xml" Id="Rb6bfc87c04f045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d8a6de95fd4693" /><Relationship Type="http://schemas.openxmlformats.org/officeDocument/2006/relationships/notesMaster" Target="/ppt/notesMasters/notesMaster1.xml" Id="R4b08254fa5d846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d363c2b2584ef6" /><Relationship Type="http://schemas.openxmlformats.org/officeDocument/2006/relationships/notesMaster" Target="/ppt/notesMasters/notesMaster1.xml" Id="R0453094c93434f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7936bfcd1d4db7" /><Relationship Type="http://schemas.openxmlformats.org/officeDocument/2006/relationships/notesMaster" Target="/ppt/notesMasters/notesMaster1.xml" Id="Rd8576ad31f8341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7ae2346f804cd5" /><Relationship Type="http://schemas.openxmlformats.org/officeDocument/2006/relationships/notesMaster" Target="/ppt/notesMasters/notesMaster1.xml" Id="Rb564acc9d24949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6d598e6a19472d" /><Relationship Type="http://schemas.openxmlformats.org/officeDocument/2006/relationships/notesMaster" Target="/ppt/notesMasters/notesMaster1.xml" Id="R4b44220d7f744f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471627a94e4eaa" /><Relationship Type="http://schemas.openxmlformats.org/officeDocument/2006/relationships/notesMaster" Target="/ppt/notesMasters/notesMaster1.xml" Id="R229500eeff494e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/Users/xinz/Desktop/ONE/work/project/Huawei/格式转换/gs_format_converter.cpp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4034c67a449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644fb48233440b" /><Relationship Type="http://schemas.openxmlformats.org/officeDocument/2006/relationships/slideLayout" Target="/ppt/slideLayouts/slideLayout1.xml" Id="R57e08842b08d4d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e08842b08d4d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8ba05445a4d4b" /><Relationship Type="http://schemas.openxmlformats.org/officeDocument/2006/relationships/notesSlide" Target="/ppt/notesSlides/notesSlide1.xml" Id="Rbd7447f774fb48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bb012b8b7456f" /><Relationship Type="http://schemas.openxmlformats.org/officeDocument/2006/relationships/notesSlide" Target="/ppt/notesSlides/notesSlide2.xml" Id="Rdc1af9761ece4a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4af2995ee4250" /><Relationship Type="http://schemas.openxmlformats.org/officeDocument/2006/relationships/notesSlide" Target="/ppt/notesSlides/notesSlide3.xml" Id="R748e4add140e4d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4e77ca13d48b3" /><Relationship Type="http://schemas.openxmlformats.org/officeDocument/2006/relationships/notesSlide" Target="/ppt/notesSlides/notesSlide4.xml" Id="R5079efd02b2b44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a2e2a20fd4300" /><Relationship Type="http://schemas.openxmlformats.org/officeDocument/2006/relationships/notesSlide" Target="/ppt/notesSlides/notesSlide5.xml" Id="Rf00d561b556e48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2cf7d5e694460" /><Relationship Type="http://schemas.openxmlformats.org/officeDocument/2006/relationships/notesSlide" Target="/ppt/notesSlides/notesSlide6.xml" Id="Recee5420db7c4b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8fc082b85445d" /><Relationship Type="http://schemas.openxmlformats.org/officeDocument/2006/relationships/notesSlide" Target="/ppt/notesSlides/notesSlide7.xml" Id="Rffe2fc0bcf0647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5592126854504" /><Relationship Type="http://schemas.openxmlformats.org/officeDocument/2006/relationships/notesSlide" Target="/ppt/notesSlides/notesSlide8.xml" Id="R2e4ae58ef36f4c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913EC6C-EA6D-4306-BD22-3D86BF20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C++ · 3DGS · GLB / MP4</a:t>
            </a:r>
          </a:p>
        </p:txBody>
      </p:sp>
      <p:sp>
        <p:nvSpPr>
          <p:cNvPr id="2" name="cover-date">
            <a:extLst xmlns:a="http://schemas.openxmlformats.org/drawingml/2006/main">
              <a:ext uri="{FF2B5EF4-FFF2-40B4-BE49-F238E27FC236}">
                <a16:creationId xmlns:a16="http://schemas.microsoft.com/office/drawing/2014/main" id="{D8A1F4FF-82BC-4D85-89F4-49E0612F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算法流程介绍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A4B8CD2-961E-496A-A5CB-C94452A4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0287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gs_format_converter.cpp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双向格式转换</a:t>
            </a:r>
          </a:p>
        </p:txBody>
      </p:sp>
      <p:sp>
        <p:nvSpPr>
          <p:cNvPr id="4" name="cover-sub">
            <a:extLst xmlns:a="http://schemas.openxmlformats.org/drawingml/2006/main">
              <a:ext uri="{FF2B5EF4-FFF2-40B4-BE49-F238E27FC236}">
                <a16:creationId xmlns:a16="http://schemas.microsoft.com/office/drawing/2014/main" id="{884BBD0A-190C-4745-839E-00513E4A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0.4 ↔ 1.0：同步转换 JSON 元数据、目标版本压缩码流与容器索引</a:t>
            </a:r>
          </a:p>
        </p:txBody>
      </p:sp>
    </p:spTree>
    <p:extLst>
      <p:ext uri="{BB962C8B-B14F-4D97-AF65-F5344CB8AC3E}">
        <p14:creationId xmlns:p14="http://schemas.microsoft.com/office/powerpoint/2010/main" val="7782029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2">
            <a:extLst xmlns:a="http://schemas.openxmlformats.org/drawingml/2006/main">
              <a:ext uri="{FF2B5EF4-FFF2-40B4-BE49-F238E27FC236}">
                <a16:creationId xmlns:a16="http://schemas.microsoft.com/office/drawing/2014/main" id="{7CDE246D-310D-4094-BE15-EAA4AE97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一个入口统一处理 GLB 与 MP4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DD82CD2F-8112-426B-A5BC-908DFAC5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scope-lead">
            <a:extLst xmlns:a="http://schemas.openxmlformats.org/drawingml/2006/main">
              <a:ext uri="{FF2B5EF4-FFF2-40B4-BE49-F238E27FC236}">
                <a16:creationId xmlns:a16="http://schemas.microsoft.com/office/drawing/2014/main" id="{37B63452-E656-456F-B101-E4C3916A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程序先识别文件内容，再进入对应容器路径；最终共享同一套 GLB 元数据转换核心。</a:t>
            </a:r>
          </a:p>
        </p:txBody>
      </p:sp>
      <p:sp>
        <p:nvSpPr>
          <p:cNvPr id="4" name="scope-glb-box">
            <a:extLst xmlns:a="http://schemas.openxmlformats.org/drawingml/2006/main">
              <a:ext uri="{FF2B5EF4-FFF2-40B4-BE49-F238E27FC236}">
                <a16:creationId xmlns:a16="http://schemas.microsoft.com/office/drawing/2014/main" id="{441A339F-95B8-4112-A53F-CE0F8BC0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ope-glb-head">
            <a:extLst xmlns:a="http://schemas.openxmlformats.org/drawingml/2006/main">
              <a:ext uri="{FF2B5EF4-FFF2-40B4-BE49-F238E27FC236}">
                <a16:creationId xmlns:a16="http://schemas.microsoft.com/office/drawing/2014/main" id="{72C5A840-EDAF-4383-AB01-9B278AD6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输入是 GLB</a:t>
            </a:r>
          </a:p>
        </p:txBody>
      </p:sp>
      <p:sp>
        <p:nvSpPr>
          <p:cNvPr id="6" name="scope-glb-body">
            <a:extLst xmlns:a="http://schemas.openxmlformats.org/drawingml/2006/main">
              <a:ext uri="{FF2B5EF4-FFF2-40B4-BE49-F238E27FC236}">
                <a16:creationId xmlns:a16="http://schemas.microsoft.com/office/drawing/2014/main" id="{565654A7-0012-498A-9983-E133FE23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30099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文件头为 glTF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→ 直接执行 convertGlb()</a:t>
            </a:r>
          </a:p>
        </p:txBody>
      </p:sp>
      <p:sp>
        <p:nvSpPr>
          <p:cNvPr id="7" name="scope-mp4-box">
            <a:extLst xmlns:a="http://schemas.openxmlformats.org/drawingml/2006/main">
              <a:ext uri="{FF2B5EF4-FFF2-40B4-BE49-F238E27FC236}">
                <a16:creationId xmlns:a16="http://schemas.microsoft.com/office/drawing/2014/main" id="{246E79AA-6A51-4600-9978-CDF8C47A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ope-mp4-head">
            <a:extLst xmlns:a="http://schemas.openxmlformats.org/drawingml/2006/main">
              <a:ext uri="{FF2B5EF4-FFF2-40B4-BE49-F238E27FC236}">
                <a16:creationId xmlns:a16="http://schemas.microsoft.com/office/drawing/2014/main" id="{2D7B8A71-AF96-44E5-85BE-671DBE6A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3362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输入是 MP4</a:t>
            </a:r>
          </a:p>
        </p:txBody>
      </p:sp>
      <p:sp>
        <p:nvSpPr>
          <p:cNvPr id="9" name="scope-mp4-body">
            <a:extLst xmlns:a="http://schemas.openxmlformats.org/drawingml/2006/main">
              <a:ext uri="{FF2B5EF4-FFF2-40B4-BE49-F238E27FC236}">
                <a16:creationId xmlns:a16="http://schemas.microsoft.com/office/drawing/2014/main" id="{5E4E7836-B13F-43E1-8C16-7C4335E3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30099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扫描顶层 box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→ 找到 meta / idat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→ 提取嵌入 GLB</a:t>
            </a:r>
          </a:p>
        </p:txBody>
      </p:sp>
      <p:sp>
        <p:nvSpPr>
          <p:cNvPr id="10" name="scope-output-box">
            <a:extLst xmlns:a="http://schemas.openxmlformats.org/drawingml/2006/main">
              <a:ext uri="{FF2B5EF4-FFF2-40B4-BE49-F238E27FC236}">
                <a16:creationId xmlns:a16="http://schemas.microsoft.com/office/drawing/2014/main" id="{0D7E20A5-F5C8-4BF7-8233-C9D23BC2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43125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ope-output-head">
            <a:extLst xmlns:a="http://schemas.openxmlformats.org/drawingml/2006/main">
              <a:ext uri="{FF2B5EF4-FFF2-40B4-BE49-F238E27FC236}">
                <a16:creationId xmlns:a16="http://schemas.microsoft.com/office/drawing/2014/main" id="{21041EA5-0536-4117-87A1-4DC58B73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300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命令行参数</a:t>
            </a:r>
          </a:p>
        </p:txBody>
      </p:sp>
      <p:sp>
        <p:nvSpPr>
          <p:cNvPr id="12" name="scope-output-body">
            <a:extLst xmlns:a="http://schemas.openxmlformats.org/drawingml/2006/main">
              <a:ext uri="{FF2B5EF4-FFF2-40B4-BE49-F238E27FC236}">
                <a16:creationId xmlns:a16="http://schemas.microsoft.com/office/drawing/2014/main" id="{EB379724-1ABA-4B3D-B8C2-1CEE9A85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30099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--to: 0.4 | 1.0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--stream: target.bin | target.egsc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--input / --output: .glb 或 .mp4 路径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四组选项顺序不限</a:t>
            </a:r>
          </a:p>
        </p:txBody>
      </p:sp>
      <p:sp>
        <p:nvSpPr>
          <p:cNvPr id="13" name="scope-bound">
            <a:extLst xmlns:a="http://schemas.openxmlformats.org/drawingml/2006/main">
              <a:ext uri="{FF2B5EF4-FFF2-40B4-BE49-F238E27FC236}">
                <a16:creationId xmlns:a16="http://schemas.microsoft.com/office/drawing/2014/main" id="{E0EC37BF-2C29-4D7F-907B-8FACA20C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转换码流与容器索引；不重新计算 accessor 点数。</a:t>
            </a:r>
          </a:p>
        </p:txBody>
      </p:sp>
    </p:spTree>
    <p:extLst>
      <p:ext uri="{BB962C8B-B14F-4D97-AF65-F5344CB8AC3E}">
        <p14:creationId xmlns:p14="http://schemas.microsoft.com/office/powerpoint/2010/main" val="14855776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3">
            <a:extLst xmlns:a="http://schemas.openxmlformats.org/drawingml/2006/main">
              <a:ext uri="{FF2B5EF4-FFF2-40B4-BE49-F238E27FC236}">
                <a16:creationId xmlns:a16="http://schemas.microsoft.com/office/drawing/2014/main" id="{D9CEFC2B-7122-4490-B0EA-E1D399F0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主流程把“容器处理”与“语义转换”解耦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82C0A463-A86F-46F7-8C2D-69D7010B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49" name="flow-arrow-0"/>
          <p:cNvCxnSpPr/>
          <p:nvPr/>
        </p:nvCxnSpPr>
        <p:spPr>
          <a:xfrm xmlns:a="http://schemas.openxmlformats.org/drawingml/2006/main">
            <a:off x="2019300" y="28956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50" name="flow-arrow-1"/>
          <p:cNvCxnSpPr/>
          <p:nvPr/>
        </p:nvCxnSpPr>
        <p:spPr>
          <a:xfrm xmlns:a="http://schemas.openxmlformats.org/drawingml/2006/main">
            <a:off x="4267200" y="28956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51" name="flow-arrow-2"/>
          <p:cNvCxnSpPr/>
          <p:nvPr/>
        </p:nvCxnSpPr>
        <p:spPr>
          <a:xfrm xmlns:a="http://schemas.openxmlformats.org/drawingml/2006/main">
            <a:off x="6515100" y="28956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52" name="flow-arrow-3"/>
          <p:cNvCxnSpPr/>
          <p:nvPr/>
        </p:nvCxnSpPr>
        <p:spPr>
          <a:xfrm xmlns:a="http://schemas.openxmlformats.org/drawingml/2006/main">
            <a:off x="8763000" y="28956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7" name="flow-0">
            <a:extLst xmlns:a="http://schemas.openxmlformats.org/drawingml/2006/main">
              <a:ext uri="{FF2B5EF4-FFF2-40B4-BE49-F238E27FC236}">
                <a16:creationId xmlns:a16="http://schemas.microsoft.com/office/drawing/2014/main" id="{F360914F-CC46-4291-B54E-01E132FB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1847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4B77E4EB-9439-4C68-B40D-C78D5FC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解析参数</a:t>
            </a:r>
          </a:p>
        </p:txBody>
      </p:sp>
      <p:sp>
        <p:nvSpPr>
          <p:cNvPr id="9" name="flow-desc-0">
            <a:extLst xmlns:a="http://schemas.openxmlformats.org/drawingml/2006/main">
              <a:ext uri="{FF2B5EF4-FFF2-40B4-BE49-F238E27FC236}">
                <a16:creationId xmlns:a16="http://schemas.microsoft.com/office/drawing/2014/main" id="{2EFF673D-6DB3-4839-AB2F-19DE9D7D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3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670"/>
                </a:solidFill>
                <a:latin typeface="Menlo"/>
                <a:ea typeface="Menlo"/>
                <a:cs typeface="Menlo"/>
              </a:rPr>
              <a:t>--to / --stream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670"/>
                </a:solidFill>
                <a:latin typeface="Menlo"/>
                <a:ea typeface="Menlo"/>
                <a:cs typeface="Menlo"/>
              </a:rPr>
              <a:t>--input / --output</a:t>
            </a:r>
          </a:p>
        </p:txBody>
      </p:sp>
      <p:sp>
        <p:nvSpPr>
          <p:cNvPr id="10" name="flow-1">
            <a:extLst xmlns:a="http://schemas.openxmlformats.org/drawingml/2006/main">
              <a:ext uri="{FF2B5EF4-FFF2-40B4-BE49-F238E27FC236}">
                <a16:creationId xmlns:a16="http://schemas.microsoft.com/office/drawing/2014/main" id="{675FF823-11C2-4AB7-99B9-D3792A17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86000"/>
            <a:ext cx="1847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9E3C9E57-30D3-4289-AEEA-1D6A704D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读取外部码流</a:t>
            </a:r>
          </a:p>
        </p:txBody>
      </p:sp>
      <p:sp>
        <p:nvSpPr>
          <p:cNvPr id="12" name="flow-desc-1">
            <a:extLst xmlns:a="http://schemas.openxmlformats.org/drawingml/2006/main">
              <a:ext uri="{FF2B5EF4-FFF2-40B4-BE49-F238E27FC236}">
                <a16:creationId xmlns:a16="http://schemas.microsoft.com/office/drawing/2014/main" id="{77084366-CA09-4FA7-8A2B-61D0D61D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33725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670"/>
                </a:solidFill>
                <a:latin typeface="Menlo"/>
                <a:ea typeface="Menlo"/>
                <a:cs typeface="Menlo"/>
              </a:rPr>
              <a:t>用户提供的路径</a:t>
            </a:r>
          </a:p>
        </p:txBody>
      </p:sp>
      <p:sp>
        <p:nvSpPr>
          <p:cNvPr id="13" name="flow-2">
            <a:extLst xmlns:a="http://schemas.openxmlformats.org/drawingml/2006/main">
              <a:ext uri="{FF2B5EF4-FFF2-40B4-BE49-F238E27FC236}">
                <a16:creationId xmlns:a16="http://schemas.microsoft.com/office/drawing/2014/main" id="{E9659FE4-3D93-4E48-BF55-837F2834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86000"/>
            <a:ext cx="1847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35A1EB12-8B05-4000-A73B-19619D7A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527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转换 GLB</a:t>
            </a:r>
          </a:p>
        </p:txBody>
      </p:sp>
      <p:sp>
        <p:nvSpPr>
          <p:cNvPr id="15" name="flow-desc-2">
            <a:extLst xmlns:a="http://schemas.openxmlformats.org/drawingml/2006/main">
              <a:ext uri="{FF2B5EF4-FFF2-40B4-BE49-F238E27FC236}">
                <a16:creationId xmlns:a16="http://schemas.microsoft.com/office/drawing/2014/main" id="{E62AC4C3-E475-42C1-9D72-D08ED4A2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33725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670"/>
                </a:solidFill>
                <a:latin typeface="Menlo"/>
                <a:ea typeface="Menlo"/>
                <a:cs typeface="Menlo"/>
              </a:rPr>
              <a:t>JSON + stream</a:t>
            </a:r>
          </a:p>
        </p:txBody>
      </p:sp>
      <p:sp>
        <p:nvSpPr>
          <p:cNvPr id="16" name="flow-3">
            <a:extLst xmlns:a="http://schemas.openxmlformats.org/drawingml/2006/main">
              <a:ext uri="{FF2B5EF4-FFF2-40B4-BE49-F238E27FC236}">
                <a16:creationId xmlns:a16="http://schemas.microsoft.com/office/drawing/2014/main" id="{5AA92C02-E769-44AA-89C3-CA24C561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86000"/>
            <a:ext cx="1847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24F5A602-1703-483B-852D-4A8732F1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527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回填容器</a:t>
            </a:r>
          </a:p>
        </p:txBody>
      </p:sp>
      <p:sp>
        <p:nvSpPr>
          <p:cNvPr id="18" name="flow-desc-3">
            <a:extLst xmlns:a="http://schemas.openxmlformats.org/drawingml/2006/main">
              <a:ext uri="{FF2B5EF4-FFF2-40B4-BE49-F238E27FC236}">
                <a16:creationId xmlns:a16="http://schemas.microsoft.com/office/drawing/2014/main" id="{005B2A4D-D47E-4452-8CAD-3E36DF79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33725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670"/>
                </a:solidFill>
                <a:latin typeface="Menlo"/>
                <a:ea typeface="Menlo"/>
                <a:cs typeface="Menlo"/>
              </a:rPr>
              <a:t>GLB 直出 / MP4 回填</a:t>
            </a:r>
          </a:p>
        </p:txBody>
      </p:sp>
      <p:sp>
        <p:nvSpPr>
          <p:cNvPr id="19" name="flow-4">
            <a:extLst xmlns:a="http://schemas.openxmlformats.org/drawingml/2006/main">
              <a:ext uri="{FF2B5EF4-FFF2-40B4-BE49-F238E27FC236}">
                <a16:creationId xmlns:a16="http://schemas.microsoft.com/office/drawing/2014/main" id="{3CF909B2-AF31-44F7-B1C5-38CD2AA8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8478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5BBFD38B-1447-4169-A5AB-F2ECC727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527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写出文件</a:t>
            </a:r>
          </a:p>
        </p:txBody>
      </p:sp>
      <p:sp>
        <p:nvSpPr>
          <p:cNvPr id="21" name="flow-desc-4">
            <a:extLst xmlns:a="http://schemas.openxmlformats.org/drawingml/2006/main">
              <a:ext uri="{FF2B5EF4-FFF2-40B4-BE49-F238E27FC236}">
                <a16:creationId xmlns:a16="http://schemas.microsoft.com/office/drawing/2014/main" id="{4B0E70BF-1258-419E-AA03-46E13F51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33725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0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F6670"/>
                </a:solidFill>
                <a:latin typeface="Menlo"/>
                <a:ea typeface="Menlo"/>
                <a:cs typeface="Menlo"/>
              </a:rPr>
              <a:t>writeFile()</a:t>
            </a:r>
          </a:p>
        </p:txBody>
      </p:sp>
      <p:sp>
        <p:nvSpPr>
          <p:cNvPr id="22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23CB1F77-AB0D-4DF1-9A17-66DB0F99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核心只有一个：独立 GLB 与 MP4/idat 都调用 convertGlb()，并传入目标版本码流。</a:t>
            </a:r>
          </a:p>
        </p:txBody>
      </p:sp>
    </p:spTree>
    <p:extLst>
      <p:ext uri="{BB962C8B-B14F-4D97-AF65-F5344CB8AC3E}">
        <p14:creationId xmlns:p14="http://schemas.microsoft.com/office/powerpoint/2010/main" val="17338202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4">
            <a:extLst xmlns:a="http://schemas.openxmlformats.org/drawingml/2006/main">
              <a:ext uri="{FF2B5EF4-FFF2-40B4-BE49-F238E27FC236}">
                <a16:creationId xmlns:a16="http://schemas.microsoft.com/office/drawing/2014/main" id="{DCEE93DA-384E-4A26-BA8C-49F8C307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GLB 转换：重建 JSON chunk，并替换压缩码流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E719657E-30D6-4F32-9BFC-F8DCF1E5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glb-parse-box">
            <a:extLst xmlns:a="http://schemas.openxmlformats.org/drawingml/2006/main">
              <a:ext uri="{FF2B5EF4-FFF2-40B4-BE49-F238E27FC236}">
                <a16:creationId xmlns:a16="http://schemas.microsoft.com/office/drawing/2014/main" id="{48476118-E11C-4C7D-A260-89DDD363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lb-parse-head">
            <a:extLst xmlns:a="http://schemas.openxmlformats.org/drawingml/2006/main">
              <a:ext uri="{FF2B5EF4-FFF2-40B4-BE49-F238E27FC236}">
                <a16:creationId xmlns:a16="http://schemas.microsoft.com/office/drawing/2014/main" id="{D54B53A9-F835-4B28-8848-444650DB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① 校验与解析</a:t>
            </a:r>
          </a:p>
        </p:txBody>
      </p:sp>
      <p:sp>
        <p:nvSpPr>
          <p:cNvPr id="5" name="glb-parse-body">
            <a:extLst xmlns:a="http://schemas.openxmlformats.org/drawingml/2006/main">
              <a:ext uri="{FF2B5EF4-FFF2-40B4-BE49-F238E27FC236}">
                <a16:creationId xmlns:a16="http://schemas.microsoft.com/office/drawing/2014/main" id="{0A0448BF-06F9-4CDA-8A54-18913381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9146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校验 magic = glTF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读取 JSON / BIN chunk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json-c 解析 JSON</a:t>
            </a:r>
          </a:p>
        </p:txBody>
      </p:sp>
      <p:sp>
        <p:nvSpPr>
          <p:cNvPr id="6" name="glb-transform-box">
            <a:extLst xmlns:a="http://schemas.openxmlformats.org/drawingml/2006/main">
              <a:ext uri="{FF2B5EF4-FFF2-40B4-BE49-F238E27FC236}">
                <a16:creationId xmlns:a16="http://schemas.microsoft.com/office/drawing/2014/main" id="{E3149C39-17DB-488E-909D-66B938B1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lb-transform-head">
            <a:extLst xmlns:a="http://schemas.openxmlformats.org/drawingml/2006/main">
              <a:ext uri="{FF2B5EF4-FFF2-40B4-BE49-F238E27FC236}">
                <a16:creationId xmlns:a16="http://schemas.microsoft.com/office/drawing/2014/main" id="{F7C639AB-6710-4A2F-99AE-732749D6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097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② 元数据与码流</a:t>
            </a:r>
          </a:p>
        </p:txBody>
      </p:sp>
      <p:sp>
        <p:nvSpPr>
          <p:cNvPr id="8" name="glb-transform-body">
            <a:extLst xmlns:a="http://schemas.openxmlformats.org/drawingml/2006/main">
              <a:ext uri="{FF2B5EF4-FFF2-40B4-BE49-F238E27FC236}">
                <a16:creationId xmlns:a16="http://schemas.microsoft.com/office/drawing/2014/main" id="{475B746B-4B63-4201-9694-48F2282A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86000"/>
            <a:ext cx="29146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attributes() / cameras()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extLists()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replaceCompressedStream()</a:t>
            </a:r>
          </a:p>
        </p:txBody>
      </p:sp>
      <p:sp>
        <p:nvSpPr>
          <p:cNvPr id="9" name="glb-rebuild-box">
            <a:extLst xmlns:a="http://schemas.openxmlformats.org/drawingml/2006/main">
              <a:ext uri="{FF2B5EF4-FFF2-40B4-BE49-F238E27FC236}">
                <a16:creationId xmlns:a16="http://schemas.microsoft.com/office/drawing/2014/main" id="{A8A04F04-1F11-446C-BBFA-CF44BD3A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lb-rebuild-head">
            <a:extLst xmlns:a="http://schemas.openxmlformats.org/drawingml/2006/main">
              <a:ext uri="{FF2B5EF4-FFF2-40B4-BE49-F238E27FC236}">
                <a16:creationId xmlns:a16="http://schemas.microsoft.com/office/drawing/2014/main" id="{43A34C80-60BC-42FE-BE6B-CFA5078B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③ 对齐与重建</a:t>
            </a:r>
          </a:p>
        </p:txBody>
      </p:sp>
      <p:sp>
        <p:nvSpPr>
          <p:cNvPr id="11" name="glb-rebuild-body">
            <a:extLst xmlns:a="http://schemas.openxmlformats.org/drawingml/2006/main">
              <a:ext uri="{FF2B5EF4-FFF2-40B4-BE49-F238E27FC236}">
                <a16:creationId xmlns:a16="http://schemas.microsoft.com/office/drawing/2014/main" id="{E0267334-C94B-4B10-B2A4-8147DB60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86000"/>
            <a:ext cx="29146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目标码流补零到 4 字节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重建 BIN 与 JSON chunk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写回 chunk / GLB 总长度</a:t>
            </a:r>
          </a:p>
        </p:txBody>
      </p:sp>
      <p:cxnSp>
        <p:nvCxnSpPr>
          <p:cNvPr id="79" name="glb-a1"/>
          <p:cNvCxnSpPr/>
          <p:nvPr/>
        </p:nvCxnSpPr>
        <p:spPr>
          <a:xfrm xmlns:a="http://schemas.openxmlformats.org/drawingml/2006/main">
            <a:off x="3733800" y="3190875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80" name="glb-a2"/>
          <p:cNvCxnSpPr/>
          <p:nvPr/>
        </p:nvCxnSpPr>
        <p:spPr>
          <a:xfrm xmlns:a="http://schemas.openxmlformats.org/drawingml/2006/main">
            <a:off x="7762875" y="3190875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4" name="glb-invariant">
            <a:extLst xmlns:a="http://schemas.openxmlformats.org/drawingml/2006/main">
              <a:ext uri="{FF2B5EF4-FFF2-40B4-BE49-F238E27FC236}">
                <a16:creationId xmlns:a16="http://schemas.microsoft.com/office/drawing/2014/main" id="{F5C7D2F4-EBE8-4208-BB4D-1A01C307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不变量</a:t>
            </a:r>
          </a:p>
        </p:txBody>
      </p:sp>
      <p:sp>
        <p:nvSpPr>
          <p:cNvPr id="15" name="glb-invariant-text">
            <a:extLst xmlns:a="http://schemas.openxmlformats.org/drawingml/2006/main">
              <a:ext uri="{FF2B5EF4-FFF2-40B4-BE49-F238E27FC236}">
                <a16:creationId xmlns:a16="http://schemas.microsoft.com/office/drawing/2014/main" id="{43BA4BD4-5787-4901-AEF8-DC60B49B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86375"/>
            <a:ext cx="933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后续 bufferView 整体平移；byteLength、byteOffset 与 buffer 总长度一致。</a:t>
            </a:r>
          </a:p>
        </p:txBody>
      </p:sp>
    </p:spTree>
    <p:extLst>
      <p:ext uri="{BB962C8B-B14F-4D97-AF65-F5344CB8AC3E}">
        <p14:creationId xmlns:p14="http://schemas.microsoft.com/office/powerpoint/2010/main" val="670101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5">
            <a:extLst xmlns:a="http://schemas.openxmlformats.org/drawingml/2006/main">
              <a:ext uri="{FF2B5EF4-FFF2-40B4-BE49-F238E27FC236}">
                <a16:creationId xmlns:a16="http://schemas.microsoft.com/office/drawing/2014/main" id="{EAB7753B-7FE8-48C6-9359-C8D9C970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属性与压缩扩展按方向成对映射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D16E2EA7-8B3E-4FD2-8B05-4C65B6AE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map-left">
            <a:extLst xmlns:a="http://schemas.openxmlformats.org/drawingml/2006/main">
              <a:ext uri="{FF2B5EF4-FFF2-40B4-BE49-F238E27FC236}">
                <a16:creationId xmlns:a16="http://schemas.microsoft.com/office/drawing/2014/main" id="{9129D116-3F57-40F3-A019-AF3A457E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0.4</a:t>
            </a:r>
          </a:p>
        </p:txBody>
      </p:sp>
      <p:sp>
        <p:nvSpPr>
          <p:cNvPr id="4" name="map-right">
            <a:extLst xmlns:a="http://schemas.openxmlformats.org/drawingml/2006/main">
              <a:ext uri="{FF2B5EF4-FFF2-40B4-BE49-F238E27FC236}">
                <a16:creationId xmlns:a16="http://schemas.microsoft.com/office/drawing/2014/main" id="{5DDF924C-23DF-46C7-A046-B09AA245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3811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1.0</a:t>
            </a:r>
          </a:p>
        </p:txBody>
      </p:sp>
      <p:sp>
        <p:nvSpPr>
          <p:cNvPr id="5" name="map-l-0">
            <a:extLst xmlns:a="http://schemas.openxmlformats.org/drawingml/2006/main">
              <a:ext uri="{FF2B5EF4-FFF2-40B4-BE49-F238E27FC236}">
                <a16:creationId xmlns:a16="http://schemas.microsoft.com/office/drawing/2014/main" id="{AA6F6F7A-7E49-4785-A05E-42E37B63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ap-r-0">
            <a:extLst xmlns:a="http://schemas.openxmlformats.org/drawingml/2006/main">
              <a:ext uri="{FF2B5EF4-FFF2-40B4-BE49-F238E27FC236}">
                <a16:creationId xmlns:a16="http://schemas.microsoft.com/office/drawing/2014/main" id="{C30451CE-01CF-40D8-85CB-820C55D5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00250"/>
            <a:ext cx="487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ap-lt-0">
            <a:extLst xmlns:a="http://schemas.openxmlformats.org/drawingml/2006/main">
              <a:ext uri="{FF2B5EF4-FFF2-40B4-BE49-F238E27FC236}">
                <a16:creationId xmlns:a16="http://schemas.microsoft.com/office/drawing/2014/main" id="{8EA2D47E-CAF4-49CF-B86A-CFDF71C7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_OPACITY / _SCALE / _ROTATION</a:t>
            </a:r>
          </a:p>
        </p:txBody>
      </p:sp>
      <p:sp>
        <p:nvSpPr>
          <p:cNvPr id="8" name="map-rt-0">
            <a:extLst xmlns:a="http://schemas.openxmlformats.org/drawingml/2006/main">
              <a:ext uri="{FF2B5EF4-FFF2-40B4-BE49-F238E27FC236}">
                <a16:creationId xmlns:a16="http://schemas.microsoft.com/office/drawing/2014/main" id="{23743235-E38A-4769-BBD0-83468260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907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KHR_gaussian_splatting:OPACITY / SCALE / ROTATION</a:t>
            </a:r>
          </a:p>
        </p:txBody>
      </p:sp>
      <p:cxnSp>
        <p:nvCxnSpPr>
          <p:cNvPr id="105" name="map-a-0"/>
          <p:cNvCxnSpPr/>
          <p:nvPr/>
        </p:nvCxnSpPr>
        <p:spPr>
          <a:xfrm xmlns:a="http://schemas.openxmlformats.org/drawingml/2006/main">
            <a:off x="5048250" y="2409825"/>
            <a:ext cx="1676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map-l-1">
            <a:extLst xmlns:a="http://schemas.openxmlformats.org/drawingml/2006/main">
              <a:ext uri="{FF2B5EF4-FFF2-40B4-BE49-F238E27FC236}">
                <a16:creationId xmlns:a16="http://schemas.microsoft.com/office/drawing/2014/main" id="{0F24ABE6-9598-4C1C-865B-95F3F90C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90875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p-r-1">
            <a:extLst xmlns:a="http://schemas.openxmlformats.org/drawingml/2006/main">
              <a:ext uri="{FF2B5EF4-FFF2-40B4-BE49-F238E27FC236}">
                <a16:creationId xmlns:a16="http://schemas.microsoft.com/office/drawing/2014/main" id="{9FD84AB8-0ED9-4420-A359-6F665ECF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90875"/>
            <a:ext cx="487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ap-lt-1">
            <a:extLst xmlns:a="http://schemas.openxmlformats.org/drawingml/2006/main">
              <a:ext uri="{FF2B5EF4-FFF2-40B4-BE49-F238E27FC236}">
                <a16:creationId xmlns:a16="http://schemas.microsoft.com/office/drawing/2014/main" id="{5CEF882D-3CC5-477A-B805-C30AFC59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_SPHERICAL_HARMONICS_DEGREE_d_COEFFICIENT_i</a:t>
            </a:r>
          </a:p>
        </p:txBody>
      </p:sp>
      <p:sp>
        <p:nvSpPr>
          <p:cNvPr id="13" name="map-rt-1">
            <a:extLst xmlns:a="http://schemas.openxmlformats.org/drawingml/2006/main">
              <a:ext uri="{FF2B5EF4-FFF2-40B4-BE49-F238E27FC236}">
                <a16:creationId xmlns:a16="http://schemas.microsoft.com/office/drawing/2014/main" id="{AB0213AA-86A4-4037-96DF-E637AF3F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81375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KHR_gaussian_splatting:SH_DEGREE_d_COEF_i</a:t>
            </a:r>
          </a:p>
        </p:txBody>
      </p:sp>
      <p:cxnSp>
        <p:nvCxnSpPr>
          <p:cNvPr id="110" name="map-a-1"/>
          <p:cNvCxnSpPr/>
          <p:nvPr/>
        </p:nvCxnSpPr>
        <p:spPr>
          <a:xfrm xmlns:a="http://schemas.openxmlformats.org/drawingml/2006/main">
            <a:off x="5048250" y="3600450"/>
            <a:ext cx="1676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5" name="map-l-2">
            <a:extLst xmlns:a="http://schemas.openxmlformats.org/drawingml/2006/main">
              <a:ext uri="{FF2B5EF4-FFF2-40B4-BE49-F238E27FC236}">
                <a16:creationId xmlns:a16="http://schemas.microsoft.com/office/drawing/2014/main" id="{9831B7CC-7723-4B57-9FF1-AF84E964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ap-r-2">
            <a:extLst xmlns:a="http://schemas.openxmlformats.org/drawingml/2006/main">
              <a:ext uri="{FF2B5EF4-FFF2-40B4-BE49-F238E27FC236}">
                <a16:creationId xmlns:a16="http://schemas.microsoft.com/office/drawing/2014/main" id="{886DB6A2-70C1-40CB-BCF4-66A952F7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81500"/>
            <a:ext cx="4876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ap-lt-2">
            <a:extLst xmlns:a="http://schemas.openxmlformats.org/drawingml/2006/main">
              <a:ext uri="{FF2B5EF4-FFF2-40B4-BE49-F238E27FC236}">
                <a16:creationId xmlns:a16="http://schemas.microsoft.com/office/drawing/2014/main" id="{3B95D051-6D0D-48B1-BCCC-58F3562B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UWA_primitive_3DGS_compression</a:t>
            </a:r>
          </a:p>
        </p:txBody>
      </p:sp>
      <p:sp>
        <p:nvSpPr>
          <p:cNvPr id="18" name="map-rt-2">
            <a:extLst xmlns:a="http://schemas.openxmlformats.org/drawingml/2006/main">
              <a:ext uri="{FF2B5EF4-FFF2-40B4-BE49-F238E27FC236}">
                <a16:creationId xmlns:a16="http://schemas.microsoft.com/office/drawing/2014/main" id="{CE5EA3B1-7F8C-4096-A060-A4792D8A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720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KHR_gaussian_splatting → extensions → UWA_…_EGSC</a:t>
            </a:r>
          </a:p>
        </p:txBody>
      </p:sp>
      <p:cxnSp>
        <p:nvCxnSpPr>
          <p:cNvPr id="115" name="map-a-2"/>
          <p:cNvCxnSpPr/>
          <p:nvPr/>
        </p:nvCxnSpPr>
        <p:spPr>
          <a:xfrm xmlns:a="http://schemas.openxmlformats.org/drawingml/2006/main">
            <a:off x="5048250" y="4791075"/>
            <a:ext cx="1676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0" name="map-footer">
            <a:extLst xmlns:a="http://schemas.openxmlformats.org/drawingml/2006/main">
              <a:ext uri="{FF2B5EF4-FFF2-40B4-BE49-F238E27FC236}">
                <a16:creationId xmlns:a16="http://schemas.microsoft.com/office/drawing/2014/main" id="{8A2DF6E2-956F-4B2E-A90D-B9A07263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扩展声明同步改名；JSON 序列化关闭斜杠转义，pointer 直接写成 /cameras/…/yfov。</a:t>
            </a:r>
          </a:p>
        </p:txBody>
      </p:sp>
    </p:spTree>
    <p:extLst>
      <p:ext uri="{BB962C8B-B14F-4D97-AF65-F5344CB8AC3E}">
        <p14:creationId xmlns:p14="http://schemas.microsoft.com/office/powerpoint/2010/main" val="18954906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6">
            <a:extLst xmlns:a="http://schemas.openxmlformats.org/drawingml/2006/main">
              <a:ext uri="{FF2B5EF4-FFF2-40B4-BE49-F238E27FC236}">
                <a16:creationId xmlns:a16="http://schemas.microsoft.com/office/drawing/2014/main" id="{116F28D8-237F-4D5D-928E-DF4CD8FB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观看约束转换尊重已有目标扩展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581A6CD7-787D-4A22-A16A-5CF9B236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cam-angle-box">
            <a:extLst xmlns:a="http://schemas.openxmlformats.org/drawingml/2006/main">
              <a:ext uri="{FF2B5EF4-FFF2-40B4-BE49-F238E27FC236}">
                <a16:creationId xmlns:a16="http://schemas.microsoft.com/office/drawing/2014/main" id="{F7A15B52-A8A4-47AA-8823-5990CFE2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am-angle-head">
            <a:extLst xmlns:a="http://schemas.openxmlformats.org/drawingml/2006/main">
              <a:ext uri="{FF2B5EF4-FFF2-40B4-BE49-F238E27FC236}">
                <a16:creationId xmlns:a16="http://schemas.microsoft.com/office/drawing/2014/main" id="{A4E61E6C-A293-46AB-8F2D-1BB55215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角度范围</a:t>
            </a:r>
          </a:p>
        </p:txBody>
      </p:sp>
      <p:sp>
        <p:nvSpPr>
          <p:cNvPr id="5" name="cam-angle-body">
            <a:extLst xmlns:a="http://schemas.openxmlformats.org/drawingml/2006/main">
              <a:ext uri="{FF2B5EF4-FFF2-40B4-BE49-F238E27FC236}">
                <a16:creationId xmlns:a16="http://schemas.microsoft.com/office/drawing/2014/main" id="{D004BA4C-3844-4E5D-ACA1-D26E8F07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914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longitudeRange × π / 180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→ azimuthRange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latitudeRange × π / 180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→ polarRange</a:t>
            </a:r>
          </a:p>
        </p:txBody>
      </p:sp>
      <p:sp>
        <p:nvSpPr>
          <p:cNvPr id="6" name="cam-box-box">
            <a:extLst xmlns:a="http://schemas.openxmlformats.org/drawingml/2006/main">
              <a:ext uri="{FF2B5EF4-FFF2-40B4-BE49-F238E27FC236}">
                <a16:creationId xmlns:a16="http://schemas.microsoft.com/office/drawing/2014/main" id="{78DBB236-66A2-4804-9133-CA308FB9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m-box-head">
            <a:extLst xmlns:a="http://schemas.openxmlformats.org/drawingml/2006/main">
              <a:ext uri="{FF2B5EF4-FFF2-40B4-BE49-F238E27FC236}">
                <a16:creationId xmlns:a16="http://schemas.microsoft.com/office/drawing/2014/main" id="{3A07DC37-4709-45E8-8159-CF0369C5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145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包围盒</a:t>
            </a:r>
          </a:p>
        </p:txBody>
      </p:sp>
      <p:sp>
        <p:nvSpPr>
          <p:cNvPr id="8" name="cam-box-body">
            <a:extLst xmlns:a="http://schemas.openxmlformats.org/drawingml/2006/main">
              <a:ext uri="{FF2B5EF4-FFF2-40B4-BE49-F238E27FC236}">
                <a16:creationId xmlns:a16="http://schemas.microsoft.com/office/drawing/2014/main" id="{91137EC9-F646-4D95-8B7F-B8F51A64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90750"/>
            <a:ext cx="2914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center = (min + max) / 2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size = max −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反向：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min/max = center ∓ size / 2</a:t>
            </a:r>
          </a:p>
        </p:txBody>
      </p:sp>
      <p:sp>
        <p:nvSpPr>
          <p:cNvPr id="9" name="cam-ext-box">
            <a:extLst xmlns:a="http://schemas.openxmlformats.org/drawingml/2006/main">
              <a:ext uri="{FF2B5EF4-FFF2-40B4-BE49-F238E27FC236}">
                <a16:creationId xmlns:a16="http://schemas.microsoft.com/office/drawing/2014/main" id="{83414284-D072-458A-8F67-FC647783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3333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m-ext-head">
            <a:extLst xmlns:a="http://schemas.openxmlformats.org/drawingml/2006/main">
              <a:ext uri="{FF2B5EF4-FFF2-40B4-BE49-F238E27FC236}">
                <a16:creationId xmlns:a16="http://schemas.microsoft.com/office/drawing/2014/main" id="{CBB6136B-54CD-4A78-91CF-9B932A17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相机扩展</a:t>
            </a:r>
          </a:p>
        </p:txBody>
      </p:sp>
      <p:sp>
        <p:nvSpPr>
          <p:cNvPr id="11" name="cam-ext-body">
            <a:extLst xmlns:a="http://schemas.openxmlformats.org/drawingml/2006/main">
              <a:ext uri="{FF2B5EF4-FFF2-40B4-BE49-F238E27FC236}">
                <a16:creationId xmlns:a16="http://schemas.microsoft.com/office/drawing/2014/main" id="{7C43584E-A84A-4519-A542-62BA319E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9146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双扩展共存时：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保留目标格式扩展</a:t>
            </a:r>
          </a:p>
          <a:p xmlns:a="http://schemas.openxmlformats.org/drawingml/2006/main">
            <a:r>
              <a:t>不转换、不覆盖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constraints → parameters：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仅 type = allocentricSixDof</a:t>
            </a:r>
          </a:p>
        </p:txBody>
      </p:sp>
      <p:sp>
        <p:nvSpPr>
          <p:cNvPr id="12" name="cam-note">
            <a:extLst xmlns:a="http://schemas.openxmlformats.org/drawingml/2006/main">
              <a:ext uri="{FF2B5EF4-FFF2-40B4-BE49-F238E27FC236}">
                <a16:creationId xmlns:a16="http://schemas.microsoft.com/office/drawing/2014/main" id="{F1317191-2765-4162-9B61-14105079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只有 allocentricSixDof 可转为 UWA_viewing_parameters；未转换的扩展声明保持不变。</a:t>
            </a:r>
          </a:p>
        </p:txBody>
      </p:sp>
    </p:spTree>
    <p:extLst>
      <p:ext uri="{BB962C8B-B14F-4D97-AF65-F5344CB8AC3E}">
        <p14:creationId xmlns:p14="http://schemas.microsoft.com/office/powerpoint/2010/main" val="1872681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7">
            <a:extLst xmlns:a="http://schemas.openxmlformats.org/drawingml/2006/main">
              <a:ext uri="{FF2B5EF4-FFF2-40B4-BE49-F238E27FC236}">
                <a16:creationId xmlns:a16="http://schemas.microsoft.com/office/drawing/2014/main" id="{98310572-3B4D-4AB3-B8AA-DB8FC2E4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MP4 转换只触碰顶层 meta 中的嵌入 GLB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8F6B5CBD-201A-469D-9B23-660B605D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42" name="mp4-a1"/>
          <p:cNvCxnSpPr/>
          <p:nvPr/>
        </p:nvCxnSpPr>
        <p:spPr>
          <a:xfrm xmlns:a="http://schemas.openxmlformats.org/drawingml/2006/main">
            <a:off x="2590800" y="27908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3" name="mp4-a2"/>
          <p:cNvCxnSpPr/>
          <p:nvPr/>
        </p:nvCxnSpPr>
        <p:spPr>
          <a:xfrm xmlns:a="http://schemas.openxmlformats.org/drawingml/2006/main">
            <a:off x="5562600" y="27908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44" name="mp4-a3"/>
          <p:cNvCxnSpPr/>
          <p:nvPr/>
        </p:nvCxnSpPr>
        <p:spPr>
          <a:xfrm xmlns:a="http://schemas.openxmlformats.org/drawingml/2006/main">
            <a:off x="8534400" y="27908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6" name="mp4-scan-box">
            <a:extLst xmlns:a="http://schemas.openxmlformats.org/drawingml/2006/main">
              <a:ext uri="{FF2B5EF4-FFF2-40B4-BE49-F238E27FC236}">
                <a16:creationId xmlns:a16="http://schemas.microsoft.com/office/drawing/2014/main" id="{62687BC8-6163-49B5-BEBB-E4916BAA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p4-scan-head">
            <a:extLst xmlns:a="http://schemas.openxmlformats.org/drawingml/2006/main">
              <a:ext uri="{FF2B5EF4-FFF2-40B4-BE49-F238E27FC236}">
                <a16:creationId xmlns:a16="http://schemas.microsoft.com/office/drawing/2014/main" id="{9F41220F-683A-45F8-BB41-D6493A58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扫描 box</a:t>
            </a:r>
          </a:p>
        </p:txBody>
      </p:sp>
      <p:sp>
        <p:nvSpPr>
          <p:cNvPr id="8" name="mp4-scan-body">
            <a:extLst xmlns:a="http://schemas.openxmlformats.org/drawingml/2006/main">
              <a:ext uri="{FF2B5EF4-FFF2-40B4-BE49-F238E27FC236}">
                <a16:creationId xmlns:a16="http://schemas.microsoft.com/office/drawing/2014/main" id="{0F14CF4F-F84F-4C2C-9DFA-AD6F9251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771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boxAt() 解析大小与类型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支持普通 / large size box</a:t>
            </a:r>
          </a:p>
        </p:txBody>
      </p:sp>
      <p:sp>
        <p:nvSpPr>
          <p:cNvPr id="9" name="mp4-idat-box">
            <a:extLst xmlns:a="http://schemas.openxmlformats.org/drawingml/2006/main">
              <a:ext uri="{FF2B5EF4-FFF2-40B4-BE49-F238E27FC236}">
                <a16:creationId xmlns:a16="http://schemas.microsoft.com/office/drawing/2014/main" id="{5F937FB2-5683-414C-88FD-B27022F0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47875"/>
            <a:ext cx="2171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p4-idat-head">
            <a:extLst xmlns:a="http://schemas.openxmlformats.org/drawingml/2006/main">
              <a:ext uri="{FF2B5EF4-FFF2-40B4-BE49-F238E27FC236}">
                <a16:creationId xmlns:a16="http://schemas.microsoft.com/office/drawing/2014/main" id="{CBBE14E8-F401-455D-B800-28CC7836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3837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定位 idat</a:t>
            </a:r>
          </a:p>
        </p:txBody>
      </p:sp>
      <p:sp>
        <p:nvSpPr>
          <p:cNvPr id="11" name="mp4-idat-body">
            <a:extLst xmlns:a="http://schemas.openxmlformats.org/drawingml/2006/main">
              <a:ext uri="{FF2B5EF4-FFF2-40B4-BE49-F238E27FC236}">
                <a16:creationId xmlns:a16="http://schemas.microsoft.com/office/drawing/2014/main" id="{B003DB53-3C9D-444A-883A-0CAB4805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14625"/>
            <a:ext cx="1752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找到包含 idat 的顶层 meta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读取其 payload 为 GLB</a:t>
            </a:r>
          </a:p>
        </p:txBody>
      </p:sp>
      <p:sp>
        <p:nvSpPr>
          <p:cNvPr id="12" name="mp4-conv-box">
            <a:extLst xmlns:a="http://schemas.openxmlformats.org/drawingml/2006/main">
              <a:ext uri="{FF2B5EF4-FFF2-40B4-BE49-F238E27FC236}">
                <a16:creationId xmlns:a16="http://schemas.microsoft.com/office/drawing/2014/main" id="{8D56BEF9-A677-4A7C-BB56-042EE263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47875"/>
            <a:ext cx="2171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p4-conv-head">
            <a:extLst xmlns:a="http://schemas.openxmlformats.org/drawingml/2006/main">
              <a:ext uri="{FF2B5EF4-FFF2-40B4-BE49-F238E27FC236}">
                <a16:creationId xmlns:a16="http://schemas.microsoft.com/office/drawing/2014/main" id="{E8B614F6-3011-4D80-BBF0-BDEDD960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复用核心</a:t>
            </a:r>
          </a:p>
        </p:txBody>
      </p:sp>
      <p:sp>
        <p:nvSpPr>
          <p:cNvPr id="14" name="mp4-conv-body">
            <a:extLst xmlns:a="http://schemas.openxmlformats.org/drawingml/2006/main">
              <a:ext uri="{FF2B5EF4-FFF2-40B4-BE49-F238E27FC236}">
                <a16:creationId xmlns:a16="http://schemas.microsoft.com/office/drawing/2014/main" id="{EB4E6365-E084-4FD4-B9FF-DA867E41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1752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convertGlb()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转换嵌入 JSON 元数据</a:t>
            </a:r>
          </a:p>
        </p:txBody>
      </p:sp>
      <p:sp>
        <p:nvSpPr>
          <p:cNvPr id="15" name="mp4-fix-box">
            <a:extLst xmlns:a="http://schemas.openxmlformats.org/drawingml/2006/main">
              <a:ext uri="{FF2B5EF4-FFF2-40B4-BE49-F238E27FC236}">
                <a16:creationId xmlns:a16="http://schemas.microsoft.com/office/drawing/2014/main" id="{6E82E660-7B52-4D04-BAA1-D9A0F4E6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2457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p4-fix-head">
            <a:extLst xmlns:a="http://schemas.openxmlformats.org/drawingml/2006/main">
              <a:ext uri="{FF2B5EF4-FFF2-40B4-BE49-F238E27FC236}">
                <a16:creationId xmlns:a16="http://schemas.microsoft.com/office/drawing/2014/main" id="{3E75F0B3-2C0E-49B2-B349-2D87B4E8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回填尺寸</a:t>
            </a:r>
          </a:p>
        </p:txBody>
      </p:sp>
      <p:sp>
        <p:nvSpPr>
          <p:cNvPr id="17" name="mp4-fix-body">
            <a:extLst xmlns:a="http://schemas.openxmlformats.org/drawingml/2006/main">
              <a:ext uri="{FF2B5EF4-FFF2-40B4-BE49-F238E27FC236}">
                <a16:creationId xmlns:a16="http://schemas.microsoft.com/office/drawing/2014/main" id="{164BC5AE-9FED-40D0-A639-E59E90E0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14625"/>
            <a:ext cx="2038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替换 idat payload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更新 idat、meta 与 iloc extent</a:t>
            </a:r>
          </a:p>
        </p:txBody>
      </p:sp>
      <p:sp>
        <p:nvSpPr>
          <p:cNvPr id="18" name="mp4-safe">
            <a:extLst xmlns:a="http://schemas.openxmlformats.org/drawingml/2006/main">
              <a:ext uri="{FF2B5EF4-FFF2-40B4-BE49-F238E27FC236}">
                <a16:creationId xmlns:a16="http://schemas.microsoft.com/office/drawing/2014/main" id="{D8C75C29-22FF-4D22-BEEA-521878C6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媒体数据保持不变</a:t>
            </a:r>
          </a:p>
        </p:txBody>
      </p:sp>
      <p:sp>
        <p:nvSpPr>
          <p:cNvPr id="19" name="mp4-safe2">
            <a:extLst xmlns:a="http://schemas.openxmlformats.org/drawingml/2006/main">
              <a:ext uri="{FF2B5EF4-FFF2-40B4-BE49-F238E27FC236}">
                <a16:creationId xmlns:a16="http://schemas.microsoft.com/office/drawing/2014/main" id="{63390BB2-B77D-4368-BB34-A1FAD109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958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meta 之前的视频 / 音频字节直接复制；新旧 GLB 大小差用于修正 meta box。</a:t>
            </a:r>
          </a:p>
        </p:txBody>
      </p:sp>
    </p:spTree>
    <p:extLst>
      <p:ext uri="{BB962C8B-B14F-4D97-AF65-F5344CB8AC3E}">
        <p14:creationId xmlns:p14="http://schemas.microsoft.com/office/powerpoint/2010/main" val="19420079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E61A71B4-6FC9-4971-ADD1-7FA869BC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运行时显式指定输入与输出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19DB7211-ABCA-4ECF-B18F-ABF1F316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cmd-bg">
            <a:extLst xmlns:a="http://schemas.openxmlformats.org/drawingml/2006/main">
              <a:ext uri="{FF2B5EF4-FFF2-40B4-BE49-F238E27FC236}">
                <a16:creationId xmlns:a16="http://schemas.microsoft.com/office/drawing/2014/main" id="{52BE7728-A634-4DB6-98EC-109C2C86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md">
            <a:extLst xmlns:a="http://schemas.openxmlformats.org/drawingml/2006/main">
              <a:ext uri="{FF2B5EF4-FFF2-40B4-BE49-F238E27FC236}">
                <a16:creationId xmlns:a16="http://schemas.microsoft.com/office/drawing/2014/main" id="{447B457E-F8C5-4B9A-9EA9-81E7C97D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./build/gs_format_converter --to 1.0 --stream t.egsc --input i.glb --output o.glb</a:t>
            </a:r>
          </a:p>
        </p:txBody>
      </p:sp>
      <p:sp>
        <p:nvSpPr>
          <p:cNvPr id="5" name="check-n-0">
            <a:extLst xmlns:a="http://schemas.openxmlformats.org/drawingml/2006/main">
              <a:ext uri="{FF2B5EF4-FFF2-40B4-BE49-F238E27FC236}">
                <a16:creationId xmlns:a16="http://schemas.microsoft.com/office/drawing/2014/main" id="{84A68D9C-26FF-4E9E-A908-00770464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check-t-0">
            <a:extLst xmlns:a="http://schemas.openxmlformats.org/drawingml/2006/main">
              <a:ext uri="{FF2B5EF4-FFF2-40B4-BE49-F238E27FC236}">
                <a16:creationId xmlns:a16="http://schemas.microsoft.com/office/drawing/2014/main" id="{AB7D5D45-E4B7-4414-A74D-ED2CFDE9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GLB</a:t>
            </a:r>
          </a:p>
        </p:txBody>
      </p:sp>
      <p:sp>
        <p:nvSpPr>
          <p:cNvPr id="7" name="check-b-0">
            <a:extLst xmlns:a="http://schemas.openxmlformats.org/drawingml/2006/main">
              <a:ext uri="{FF2B5EF4-FFF2-40B4-BE49-F238E27FC236}">
                <a16:creationId xmlns:a16="http://schemas.microsoft.com/office/drawing/2014/main" id="{981C5491-6EB3-4409-B864-4888EFBD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目标码流逐字节匹配；末尾补零至四字节边界</a:t>
            </a:r>
          </a:p>
        </p:txBody>
      </p:sp>
      <p:sp>
        <p:nvSpPr>
          <p:cNvPr id="8" name="check-n-1">
            <a:extLst xmlns:a="http://schemas.openxmlformats.org/drawingml/2006/main">
              <a:ext uri="{FF2B5EF4-FFF2-40B4-BE49-F238E27FC236}">
                <a16:creationId xmlns:a16="http://schemas.microsoft.com/office/drawing/2014/main" id="{A7AEE092-3B1E-4D43-8295-2D91BC28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29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check-t-1">
            <a:extLst xmlns:a="http://schemas.openxmlformats.org/drawingml/2006/main">
              <a:ext uri="{FF2B5EF4-FFF2-40B4-BE49-F238E27FC236}">
                <a16:creationId xmlns:a16="http://schemas.microsoft.com/office/drawing/2014/main" id="{9D23828B-4559-412C-A4EB-970467FE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005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索引</a:t>
            </a:r>
          </a:p>
        </p:txBody>
      </p:sp>
      <p:sp>
        <p:nvSpPr>
          <p:cNvPr id="10" name="check-b-1">
            <a:extLst xmlns:a="http://schemas.openxmlformats.org/drawingml/2006/main">
              <a:ext uri="{FF2B5EF4-FFF2-40B4-BE49-F238E27FC236}">
                <a16:creationId xmlns:a16="http://schemas.microsoft.com/office/drawing/2014/main" id="{388BFE7A-B985-4C98-B9C4-F6B71FCC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4958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bufferView 长度/偏移与 buffer 总长度同步更新</a:t>
            </a:r>
          </a:p>
        </p:txBody>
      </p:sp>
      <p:sp>
        <p:nvSpPr>
          <p:cNvPr id="11" name="check-n-2">
            <a:extLst xmlns:a="http://schemas.openxmlformats.org/drawingml/2006/main">
              <a:ext uri="{FF2B5EF4-FFF2-40B4-BE49-F238E27FC236}">
                <a16:creationId xmlns:a16="http://schemas.microsoft.com/office/drawing/2014/main" id="{F9294E4A-622E-4DE8-8F50-3BE39390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90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check-t-2">
            <a:extLst xmlns:a="http://schemas.openxmlformats.org/drawingml/2006/main">
              <a:ext uri="{FF2B5EF4-FFF2-40B4-BE49-F238E27FC236}">
                <a16:creationId xmlns:a16="http://schemas.microsoft.com/office/drawing/2014/main" id="{B0826B7C-D177-4EAF-B77E-350178B7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MP4</a:t>
            </a:r>
          </a:p>
        </p:txBody>
      </p:sp>
      <p:sp>
        <p:nvSpPr>
          <p:cNvPr id="13" name="check-b-2">
            <a:extLst xmlns:a="http://schemas.openxmlformats.org/drawingml/2006/main">
              <a:ext uri="{FF2B5EF4-FFF2-40B4-BE49-F238E27FC236}">
                <a16:creationId xmlns:a16="http://schemas.microsoft.com/office/drawing/2014/main" id="{F755A382-532B-442F-AA29-791C0E38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958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idat / meta / iloc 长度同步，媒体字节不变</a:t>
            </a:r>
          </a:p>
        </p:txBody>
      </p:sp>
      <p:sp>
        <p:nvSpPr>
          <p:cNvPr id="14" name="close">
            <a:extLst xmlns:a="http://schemas.openxmlformats.org/drawingml/2006/main">
              <a:ext uri="{FF2B5EF4-FFF2-40B4-BE49-F238E27FC236}">
                <a16:creationId xmlns:a16="http://schemas.microsoft.com/office/drawing/2014/main" id="{B7CC52A2-09EE-4F21-AFEA-28724C23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结果：同一工具完成元数据、压缩码流及 GLB / MP4 容器的双向转换。</a:t>
            </a:r>
          </a:p>
        </p:txBody>
      </p:sp>
    </p:spTree>
    <p:extLst>
      <p:ext uri="{BB962C8B-B14F-4D97-AF65-F5344CB8AC3E}">
        <p14:creationId xmlns:p14="http://schemas.microsoft.com/office/powerpoint/2010/main" val="1005381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2026-08-13T03:08:00.1960000Z</dcterms:created>
  <dcterms:modified xsi:type="dcterms:W3CDTF">2026-08-13T03:08:00.1960000Z</dcterms:modified>
</coreProperties>
</file>